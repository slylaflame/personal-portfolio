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ammersmith One" charset="1" panose="02010703030501060504"/>
      <p:regular r:id="rId16"/>
    </p:embeddedFont>
    <p:embeddedFont>
      <p:font typeface="Oswald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1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6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645285" y="452415"/>
            <a:ext cx="19813267" cy="9834585"/>
          </a:xfrm>
          <a:custGeom>
            <a:avLst/>
            <a:gdLst/>
            <a:ahLst/>
            <a:cxnLst/>
            <a:rect r="r" b="b" t="t" l="l"/>
            <a:pathLst>
              <a:path h="9834585" w="19813267">
                <a:moveTo>
                  <a:pt x="19813267" y="0"/>
                </a:moveTo>
                <a:lnTo>
                  <a:pt x="0" y="0"/>
                </a:lnTo>
                <a:lnTo>
                  <a:pt x="0" y="9834585"/>
                </a:lnTo>
                <a:lnTo>
                  <a:pt x="19813267" y="9834585"/>
                </a:lnTo>
                <a:lnTo>
                  <a:pt x="198132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055430" y="2647302"/>
            <a:ext cx="9697217" cy="4813346"/>
          </a:xfrm>
          <a:custGeom>
            <a:avLst/>
            <a:gdLst/>
            <a:ahLst/>
            <a:cxnLst/>
            <a:rect r="r" b="b" t="t" l="l"/>
            <a:pathLst>
              <a:path h="4813346" w="9697217">
                <a:moveTo>
                  <a:pt x="9697217" y="0"/>
                </a:moveTo>
                <a:lnTo>
                  <a:pt x="0" y="0"/>
                </a:lnTo>
                <a:lnTo>
                  <a:pt x="0" y="4813345"/>
                </a:lnTo>
                <a:lnTo>
                  <a:pt x="9697217" y="4813345"/>
                </a:lnTo>
                <a:lnTo>
                  <a:pt x="96972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5645" y="452415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1544" y="4725038"/>
            <a:ext cx="21278984" cy="4765532"/>
          </a:xfrm>
          <a:custGeom>
            <a:avLst/>
            <a:gdLst/>
            <a:ahLst/>
            <a:cxnLst/>
            <a:rect r="r" b="b" t="t" l="l"/>
            <a:pathLst>
              <a:path h="4765532" w="21278984">
                <a:moveTo>
                  <a:pt x="0" y="0"/>
                </a:moveTo>
                <a:lnTo>
                  <a:pt x="21278984" y="0"/>
                </a:lnTo>
                <a:lnTo>
                  <a:pt x="21278984" y="4765532"/>
                </a:lnTo>
                <a:lnTo>
                  <a:pt x="0" y="4765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766" t="-555363" r="-9669" b="-235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755797"/>
            <a:ext cx="16646128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4"/>
              </a:lnSpc>
              <a:spcBef>
                <a:spcPct val="0"/>
              </a:spcBef>
            </a:pPr>
            <a:r>
              <a:rPr lang="en-US" sz="46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CL</a:t>
            </a:r>
            <a:r>
              <a:rPr lang="en-US" sz="46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IMATE RESILIENCE IN ROAD TRANSPORT AND SUSTAINABLE TECHNOLOGIES AND CONSTRUCTION MATERIALS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7542" y="5133975"/>
            <a:ext cx="317291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PANEL DISCUSSION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4337" y="5831417"/>
            <a:ext cx="555932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SESSION TIME: 3:20 PM - 4:00 PM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2288517"/>
            <a:ext cx="4971718" cy="5246370"/>
            <a:chOff x="0" y="0"/>
            <a:chExt cx="4274883" cy="4511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79015" y="158750"/>
              <a:ext cx="3916853" cy="4193540"/>
            </a:xfrm>
            <a:custGeom>
              <a:avLst/>
              <a:gdLst/>
              <a:ahLst/>
              <a:cxnLst/>
              <a:rect r="r" b="b" t="t" l="l"/>
              <a:pathLst>
                <a:path h="4193540" w="3916853">
                  <a:moveTo>
                    <a:pt x="0" y="0"/>
                  </a:moveTo>
                  <a:lnTo>
                    <a:pt x="3916853" y="0"/>
                  </a:lnTo>
                  <a:lnTo>
                    <a:pt x="3916853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8"/>
              <a:stretch>
                <a:fillRect l="-4570" t="-9599" r="-5219" b="-1117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0290" y="8093367"/>
            <a:ext cx="57309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EPHRAIM OPUGE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1700" y="8829675"/>
            <a:ext cx="636807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ASSISTANT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DIRECTOR OF ENGINEERING (ROADS) – KENHA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9370" y="1266239"/>
            <a:ext cx="8309930" cy="483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EPHRAIM OPUGE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PECIALIST IN SUSTAINABLE MOBILITY, TRANSPORT SYSTEMS, AND ROAD ENGINEERING WITH 18 YEARS' EXPERIENCE IN ROAD DESIGN, CONSTRUCTION, MAINTENANCE, AND ASSET MANAGEMENT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ASSISTANT DIRECTOR OF ENGINEERING (ROADS), PLANNING AND ROAD MANAGEMENT DEPARTMENT – KENYA NATIONAL HIGHWAYS AUTHORITY (KENHA)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LEADING THE DEVELOPMENT OF THE KENYA NATIONAL TRUNK ROADS 50-YEAR MASTER PLAN (KENTRO 2075)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SPEARHEADING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KENHA'S DIGITAL ROAD ASSET MANAGEMENT SYSTEMS (RAMS) TRANSFORMATION PROJECT AND NATIONWIDE ROAD AND BRIDGE INVENTORY SURVEYS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MSC IN 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OAD MANAGEMENT AND ENGINEERING – UNIVERSITY OF BIRMINGHAM, UK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ADVANCED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MEng STUDIES IN STRUCTURAL ENGINEERING – KYOTO UNIVERSITY, JAPAN AND UNIVERSITY OF NAIROBI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RESEARC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 FOCUSED ON SOCIAL EQUITY AND ACCESSIBILITY IN TRANSPORT – INCLUDING MOBILITY FOR PERSONS WITH DISABILITIES, WOMEN TRADERS, AND RURAL TRANSPORT USERS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949370" y="6779773"/>
            <a:ext cx="8309930" cy="283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18 YEA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RS OF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PROFESSIONAL EXPERIENCE IN ROADS AND TRANSPORT ENGINEERING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LEADERSHIP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IN NATIONAL STRATEGIC ROAD PLANNING AND DIGITAL TRANSFORMATION AT KENHA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DEVELOPMENT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AND COORDINATION OF KENYA'S LONG-TERM TRUNK ROADS MASTER PLAN (KENTRO 2075)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PUBLISHED RESEARCH ON INCLUSIVE AND EQUITABLE TRANSPORT SYSTEMS IN URBAN AND RURAL CONTEXTS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PRESENTER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AND PANELIST – 1ST KIHBT RESEARCH CONFERENCE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01700" y="7525362"/>
            <a:ext cx="57309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PANEL CHAIR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98087" y="1960375"/>
            <a:ext cx="5575299" cy="5883294"/>
            <a:chOff x="0" y="0"/>
            <a:chExt cx="4274883" cy="4511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79015" y="158750"/>
              <a:ext cx="3916853" cy="4193540"/>
            </a:xfrm>
            <a:custGeom>
              <a:avLst/>
              <a:gdLst/>
              <a:ahLst/>
              <a:cxnLst/>
              <a:rect r="r" b="b" t="t" l="l"/>
              <a:pathLst>
                <a:path h="4193540" w="3916853">
                  <a:moveTo>
                    <a:pt x="0" y="0"/>
                  </a:moveTo>
                  <a:lnTo>
                    <a:pt x="3916853" y="0"/>
                  </a:lnTo>
                  <a:lnTo>
                    <a:pt x="3916853" y="4193540"/>
                  </a:lnTo>
                  <a:lnTo>
                    <a:pt x="0" y="4193540"/>
                  </a:lnTo>
                  <a:close/>
                </a:path>
              </a:pathLst>
            </a:custGeom>
            <a:blipFill>
              <a:blip r:embed="rId8"/>
              <a:stretch>
                <a:fillRect l="-11808" t="0" r="-1180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0290" y="7834144"/>
            <a:ext cx="573094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ALBERT O. NDEGE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1700" y="8562026"/>
            <a:ext cx="636807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ASSISTANT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DIRECTOR OF ENGINEERING (ROADS) – KENHA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9370" y="2438023"/>
            <a:ext cx="8309930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NDEGE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CIVIL ENGINEER WITH OVER 17 YEARS' EXPERIENCE IN DESIGN, CONSTRUCTION, MAINTENANCE, AND PERFORMANCE MONITORING OF ROADS AND BRIDGES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ACTING CHIEF ENGINEER (MATERIALS) – MATERIALS TESTING AND RESEARCH DIRECTORATE, STATE DEPARTMENT FOR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ROAD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S, MINISTRY OF ROADS AND TRANSPORT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EXTENSIVE EXPERIENCE IN PLANNING AND MANAGING CIVIL ENGINEERING PROGRAMMES AND SUPERVI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SING 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OAD PROJECTS IN KENYA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BSC CIVIL ENGINEERING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MSC CIVIL ENGINEERING (TRANSPORTATION) – UNIVERSITY OF NAIROBI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REGISTER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ED PROFESSIONAL ENGINEER – ENGINEERS BOARD OF KENYA (EBK)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CORPORATE MEMBER – INSTITUTION OF ENGINEERS OF KENYA (MIEK)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949370" y="7046251"/>
            <a:ext cx="8309930" cy="197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OVER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17 YEA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RS OF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PROFESSIONAL EXPERIENCE IN ROADS AND BRIDGES ENGINEERING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LEADERSHIP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IN MATERIALS TESTING AND RESEARCH AT NATIONAL L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EVEL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SUPE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RVISION OF MULTIPLE ROAD PROJECTS ACROSS KENYA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UAL QUALIFICATIONS IN CIVIL AND TRANSPORTATION ENGINEERING FROM THE UNIVERSITY OF NAIROBI</a:t>
            </a:r>
          </a:p>
          <a:p>
            <a:pPr algn="just">
              <a:lnSpc>
                <a:spcPts val="228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3471" y="2489006"/>
            <a:ext cx="6684530" cy="4971642"/>
          </a:xfrm>
          <a:custGeom>
            <a:avLst/>
            <a:gdLst/>
            <a:ahLst/>
            <a:cxnLst/>
            <a:rect r="r" b="b" t="t" l="l"/>
            <a:pathLst>
              <a:path h="4971642" w="6684530">
                <a:moveTo>
                  <a:pt x="0" y="0"/>
                </a:moveTo>
                <a:lnTo>
                  <a:pt x="6684530" y="0"/>
                </a:lnTo>
                <a:lnTo>
                  <a:pt x="6684530" y="4971641"/>
                </a:lnTo>
                <a:lnTo>
                  <a:pt x="0" y="49716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735" t="-2453" r="-183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0290" y="7710541"/>
            <a:ext cx="59057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JOHN ROBERT OTIENO OGALLO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290" y="8548741"/>
            <a:ext cx="636807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ANAGING DIRECTOR, NOITECH ENGINEERING LIMITED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49370" y="1266239"/>
            <a:ext cx="8309930" cy="540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OGALLO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GEOTECHNICAL AND PAVEMENT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MATERIALS ENGINEER SPECIALIZING IN SUBSURFACE INVESTIGATIONS, FOUNDATION DESIGN, PAVEMENT ENGINEERING, AND CONSTRUCTION QUALITY ASSURANCE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MANAGING DIRECTOR, NOITECH ENGINEERING LIMITED – LEADING GEOTECHNICAL INVESTIGATIONS AND INFRASTRUCTURE ADVISORY ACROSS KENYA AND THE REGION; DELIVERED OVER 600 KM OF ROAD CORRIDORS AND MAJOR HOUSING, MARINE, AND ENERGY PROJECTS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BSC CIVIL ENGINEERING – JKUAT; PURSUING MSC GEOTECHNICAL ENGINEERING – DeKUT; CERTIFIED IN ESIA, CLIMATE CHANGE, NON-DESTRUCTIVE TESTING, AND ADVANCED GEOTECHNICAL PRACTICE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REGISTRAR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(ENGINEERS CHAPTER) – ARCHITECTURAL ASSOCIATION OF KENYA (AAK); HONORARY SECRETARY – KENYA GEOTECHNICAL SOCIETY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IEK-NOMINATED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PROFESSIONAL ADVISORY ENGINEER TO NAIROBI CITY COUNTY; COUNTY REPRESENTATIVE FOR KISUMU – IEK NYANZA BRANCH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ASSO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CIATE CONSULTANT, ESAMI UNDER THE TANROADS PROGRAMME (TANZANIA); CONTRIBUTOR TO KEBS GEOTECHNICS TECHNICAL COMMITTEE ON NATIONAL STANDARDS DEVELOPMENT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949370" y="6779773"/>
            <a:ext cx="8309930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DELIVE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RY OF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OVER 600 KM OF ROAD CORRIDORS AND DIVERSE INFRASTRUCTURE PROJECTS ACROSS EAST AFRICA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LEADERSHIP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IN GEOTECHNICAL PRACTICE ACROSS ROADS, BRIDGES, DAMS, PORTS, AND HIGH-RISE DEVELOPMENTS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ACTIVE ROLES IN PROFESSIONAL GOVERNANCE AT AAK, IEK, KENYA GEOTECHNICAL SOCIETY, AND ACEK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CONTRIBUTION TO NATIONAL STANDARDS THROUGH KEBS AND CAPACITY BUILDING IN CONSTRUCTION MATERIALS LABORATORIES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MENTORSHIP AND YOUTH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EMPOWERMENT THROUGH COMMUNITY AND PROFESSIONAL DEVELOPMENT INITIATIVES</a:t>
            </a:r>
          </a:p>
          <a:p>
            <a:pPr algn="just">
              <a:lnSpc>
                <a:spcPts val="228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008" y="2288517"/>
            <a:ext cx="4931302" cy="5078067"/>
          </a:xfrm>
          <a:custGeom>
            <a:avLst/>
            <a:gdLst/>
            <a:ahLst/>
            <a:cxnLst/>
            <a:rect r="r" b="b" t="t" l="l"/>
            <a:pathLst>
              <a:path h="5078067" w="4931302">
                <a:moveTo>
                  <a:pt x="0" y="0"/>
                </a:moveTo>
                <a:lnTo>
                  <a:pt x="4931302" y="0"/>
                </a:lnTo>
                <a:lnTo>
                  <a:pt x="4931302" y="5078067"/>
                </a:lnTo>
                <a:lnTo>
                  <a:pt x="0" y="5078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13103" y="7451122"/>
            <a:ext cx="50738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DR. NGECE NICHOLAS KUNGA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8814" y="8216124"/>
            <a:ext cx="5202424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DEPUTY DIRECTOR, ENVIRONMENT, SOCIAL SAFEGUARDS AND SUSTAINABILITY, KENYA RURAL ROADS AUTHORITY (KERRA)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266239"/>
            <a:ext cx="8309930" cy="540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DR. NICHOLAS KUNGA NGECE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PUTY DIRECTOR, ENVIRONMENT, SOCIAL SAFEGUARDS AND SUSTAINABILITY – KENYA RURAL ROADS AUTHORITY (KeRRA), NAIROBI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FORMER CECM FOR HEALTH AND SANITATION AND CCO FOR ENVIRONMENT, NATURAL RESOURCES AND CLIMATE CHANGE – EMBU COUNTY GOVERNMENT; SET UP DONOR-FUNDED PROGRAMMES IN CLIMATE, NRM, AND WASTE MANAGEMENT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EXTENSIVE INTERNATIONAL CAREER SPANNING SIDA (REGIONAL PROGRAMMES MANAGER), WWF (REGIONAL MANAGER), IUCN (PROGRAMME MANAGER), CARBON ZERO BALANCE UK (REGIONAL COORDINATOR), AND IIRR AFRICA AND DETRA-AFRICA (DIRECTOR)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CONVENER AND COORDINATOR – SUSTAINABILITY IMPACT NETWORK AFRICA (SUSINA), A PAN-AFRICAN PLATFORM PROMOTING CLIMATE, ENVIRONMENTAL, ECONOMIC, AND SOCIAL SUSTAINABILITY INNOVATIONS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PHD IN ENVIRONMENTAL ECONOMICS – SWISS MANAGEMENT CENTRE UNIVERSITY, SWITZERLAND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MSC – UNIVERSITY OF NAIROBI; BSC IN NATURAL RESOURCES MANAGEMENT – EGERTON UNIVERSITY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FINALIZING A SECOND PHD IN MANAGEMENT AND LEADERSHIP – MANAGEMENT UNIVERSITY OF AFRICA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65282" y="6790056"/>
            <a:ext cx="8309930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SENIO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 LEADERSHI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 ROLES ACROSS GOVERNMENT, INTERNATIONAL NGOs, AND PRIVATE SECTOR IN ENVIRONMENT AND SUSTAINABILITY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ESTABLISHMENT OF DONOR-FUNDED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CLIMATE AND NRM PROGRAMMES AT COUNTY GOVERNMENT LEVEL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FOUNDING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AND COORDINATION OF SUSINA – A PREMIER AFRICAN SUSTAINABILITY AND IMPACT NETWORK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DUAL PHD QUALIFI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CATIONS IN ENVIRONMENTAL ECONOMICS AND MANAGEMENT AND LEADERSHIP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MULTI-SECTOR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EXPERTISE SPANNING CLIMATE CHANGE, ENVIRONMENTAL POLICY, SOCIAL SAFEGUARDS, AND SUSTAINABLE DEVELOPMENT</a:t>
            </a:r>
          </a:p>
          <a:p>
            <a:pPr algn="just">
              <a:lnSpc>
                <a:spcPts val="228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13103" y="1852169"/>
            <a:ext cx="5031609" cy="6697593"/>
            <a:chOff x="0" y="0"/>
            <a:chExt cx="3797300" cy="505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97300" cy="5054600"/>
            </a:xfrm>
            <a:custGeom>
              <a:avLst/>
              <a:gdLst/>
              <a:ahLst/>
              <a:cxnLst/>
              <a:rect r="r" b="b" t="t" l="l"/>
              <a:pathLst>
                <a:path h="5054600" w="3797300">
                  <a:moveTo>
                    <a:pt x="0" y="0"/>
                  </a:moveTo>
                  <a:lnTo>
                    <a:pt x="3797300" y="0"/>
                  </a:lnTo>
                  <a:lnTo>
                    <a:pt x="3797300" y="5054600"/>
                  </a:lnTo>
                  <a:lnTo>
                    <a:pt x="0" y="5054600"/>
                  </a:lnTo>
                  <a:close/>
                </a:path>
              </a:pathLst>
            </a:custGeom>
            <a:blipFill>
              <a:blip r:embed="rId7"/>
              <a:stretch>
                <a:fillRect l="-460" t="0" r="-46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0500" y="4229100"/>
              <a:ext cx="3416300" cy="647700"/>
            </a:xfrm>
            <a:custGeom>
              <a:avLst/>
              <a:gdLst/>
              <a:ahLst/>
              <a:cxnLst/>
              <a:rect r="r" b="b" t="t" l="l"/>
              <a:pathLst>
                <a:path h="647700" w="3416300">
                  <a:moveTo>
                    <a:pt x="0" y="0"/>
                  </a:moveTo>
                  <a:lnTo>
                    <a:pt x="3416300" y="0"/>
                  </a:lnTo>
                  <a:lnTo>
                    <a:pt x="3416300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26211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7952" t="-339957" r="-5636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13103" y="7580805"/>
            <a:ext cx="50738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EMMANUEL TWINEMATSIKO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3103" y="8129587"/>
            <a:ext cx="5202424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  <a:spcBef>
                <a:spcPct val="0"/>
              </a:spcBef>
            </a:pPr>
            <a:r>
              <a:rPr lang="en-US" sz="25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ASSISTANT COMMISSIONER, DISTRICT AND COMMUNITY ACCESS ROADS, MINISTRY OF WORKS AND TRANSPORT, UGANDA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65282" y="1278628"/>
            <a:ext cx="8309930" cy="397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EMMANUEL TWINAMATSIKO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UGANDAN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CIVIL ENGINEER WITH 25 YEARS OF PROFESSIONAL EXPERIENCE IN ROADS DEVELOPMENT, MANAGEMENT, AND MAINTENANCE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ASSISTANT C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OMMISSIONER, DISTRICT AND COMMUNITY ACCESS ROADS – MINISTRY OF WORKS AND TRANSPORT, UGANDA; RESPONSIBLE FOR POLICY FORMULATION, STRATEGIC PLANNING, AND MONITORING OF RURAL ROADS PROGRAMMES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14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YEARS IN LOCAL GOVERNMENT AND 11 YEARS IN CENTRAL GOVERNMENT MANAGING RURAL ROADS PROGRAMMES INCLUDING DISTRICT, URBAN, AND COMMUNITY ACCESS ROADS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PROVIDES OVERSIGHT AND CAPACITY BUILDING TO LOCAL GOVERNMENTS IN DEVELOPMENT AND MANAGEMENT OF RURAL ROADS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BSC CIVIL ENGINEERING – MAKERERE UNIVERSITY, UGANDA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MSC WATER SCIENCE AND ENGINEERING – IHE DELFT, NETHERLANDS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MBA – EASTERN AND SOUTHERN AFRICAN MANAGEMENT INSTITUTE (ESAMI)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65282" y="6151881"/>
            <a:ext cx="8309930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25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YEARS OF ENGINEERING PRACTICE SPANNING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LOCAL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AND CENTRAL GOVERNMENT IN UGANDA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LEADERSHIP IN POLI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CY FORMULATION AN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 IMPLEMENTATION OF NATIONAL RURAL ROADS PROGRAMMES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SUPERVISION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OF CONVENTIONAL AND INNOVATIVE ROAD CON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STRUCTION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AND MAINTENANCE PROJECTS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CAPACITY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BUILDING OF LOCAL GOVERNMENTS IN RURAL ROADS DEVELOPMENT AND MANAGEMENT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COMMITMENT TO REGIONAL KNOWLEDGE SHARING TO ADVANCE ROAD NETWORK CONNECTIVITY ACROSS AFRICA</a:t>
            </a:r>
          </a:p>
          <a:p>
            <a:pPr algn="just">
              <a:lnSpc>
                <a:spcPts val="228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175363" y="118429"/>
            <a:ext cx="20486132" cy="10168571"/>
          </a:xfrm>
          <a:custGeom>
            <a:avLst/>
            <a:gdLst/>
            <a:ahLst/>
            <a:cxnLst/>
            <a:rect r="r" b="b" t="t" l="l"/>
            <a:pathLst>
              <a:path h="10168571" w="20486132">
                <a:moveTo>
                  <a:pt x="20486133" y="0"/>
                </a:moveTo>
                <a:lnTo>
                  <a:pt x="0" y="0"/>
                </a:lnTo>
                <a:lnTo>
                  <a:pt x="0" y="10168571"/>
                </a:lnTo>
                <a:lnTo>
                  <a:pt x="20486133" y="10168571"/>
                </a:lnTo>
                <a:lnTo>
                  <a:pt x="2048613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879109"/>
            <a:ext cx="6684530" cy="2735609"/>
          </a:xfrm>
          <a:custGeom>
            <a:avLst/>
            <a:gdLst/>
            <a:ahLst/>
            <a:cxnLst/>
            <a:rect r="r" b="b" t="t" l="l"/>
            <a:pathLst>
              <a:path h="2735609" w="6684530">
                <a:moveTo>
                  <a:pt x="0" y="0"/>
                </a:moveTo>
                <a:lnTo>
                  <a:pt x="6684530" y="0"/>
                </a:lnTo>
                <a:lnTo>
                  <a:pt x="6684530" y="2735609"/>
                </a:lnTo>
                <a:lnTo>
                  <a:pt x="0" y="2735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403649" r="-56366" b="-187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59821" y="2490455"/>
            <a:ext cx="5022287" cy="5388655"/>
          </a:xfrm>
          <a:custGeom>
            <a:avLst/>
            <a:gdLst/>
            <a:ahLst/>
            <a:cxnLst/>
            <a:rect r="r" b="b" t="t" l="l"/>
            <a:pathLst>
              <a:path h="5388655" w="5022287">
                <a:moveTo>
                  <a:pt x="0" y="0"/>
                </a:moveTo>
                <a:lnTo>
                  <a:pt x="5022288" y="0"/>
                </a:lnTo>
                <a:lnTo>
                  <a:pt x="5022288" y="5388654"/>
                </a:lnTo>
                <a:lnTo>
                  <a:pt x="0" y="53886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7982" y="8177463"/>
            <a:ext cx="40925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G. ABUODHA CHARLES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7982" y="8629241"/>
            <a:ext cx="4092599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ENGINEER (ROADS) 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DEVELOPMENT,</a:t>
            </a: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KENYA RURAL ROADS AUTHORITY (KERRA)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0436" y="2075378"/>
            <a:ext cx="7616474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ABUODHA CHARLES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ROADS AND BRIDGES ENGINEER AT THE KENYA RURAL ROADS AUTHORITY (KERRA) HQ, NAIROBI; SERVING AS ENGINEER ROADS DEVELOPMENT AND RESIDENT ENGINEER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EXTENSIVE EXPERIENCE IN DESIGN OF ROAD AND DRAINAGE STRUCTURES ACROSS KENYA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SPECIALIST IN BRIDGE ENGINEERING, BOX CULVERT DESIGN, CONSTRUCTION MANAGEMENT, AND CONTRACT ADMINISTRATION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REGISTERED PROFESSIONAL ENGINEER – ENGINEERS BOARD OF KENY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 (EBK)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CORPORATE MEMBER – INSTITUTION OF ENGINEERS OF KENYA (MIEK)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BSC CIVIL AND CONSTRUCTION ENGINEERING – UNIVERSITY OF NAIROBI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FINAL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IZING MSC IN STRUCTURAL ENGINEERING – UNIVERSITY OF NAIROBI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20436" y="6157766"/>
            <a:ext cx="7616474" cy="283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SIGNIFICANT CONTRIBUTION TO KENYA'S TRANSPORT INFRASTRUCTURE THROUGH ROADS AND BRIDGE ENGINEERING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EXPERTISE IN INNOVATIVE ENGINEERING SOLUTIONS FOR ROAD AND DRAINAGE STRUCTURE DESIGN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EFF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ECTIVE PROJECT DELIVERY THROUGH STRONG CONSTRUCTION MANAGEMENT AND CONTRACT ADMINISTRATION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DUAL QUALIFI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CATIONS IN CIVIL AND STRUCTURAL ENGINEERING FROM THE UNIVERSITY OF NAIROBI</a:t>
            </a:r>
          </a:p>
          <a:p>
            <a:pPr algn="just">
              <a:lnSpc>
                <a:spcPts val="228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9192" y="1648965"/>
            <a:ext cx="4766554" cy="6012932"/>
          </a:xfrm>
          <a:custGeom>
            <a:avLst/>
            <a:gdLst/>
            <a:ahLst/>
            <a:cxnLst/>
            <a:rect r="r" b="b" t="t" l="l"/>
            <a:pathLst>
              <a:path h="6012932" w="4766554">
                <a:moveTo>
                  <a:pt x="0" y="0"/>
                </a:moveTo>
                <a:lnTo>
                  <a:pt x="4766554" y="0"/>
                </a:lnTo>
                <a:lnTo>
                  <a:pt x="4766554" y="6012932"/>
                </a:lnTo>
                <a:lnTo>
                  <a:pt x="0" y="60129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7393" y="7652372"/>
            <a:ext cx="50738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 GLADWELL NG’ANG’A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65282" y="2661150"/>
            <a:ext cx="8309930" cy="340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GLADWELL NG'ANG'A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SENIOR ENGINEER (MATERIALS) – MATERIALS T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ESTING AND RESEARCH DIRECTORATE (MTRD), STATE DEPARTMENT FOR ROADS; SPECIALIST IN CONCRETE USE IN CONSTRUCTION AND RESEARCH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REGISTERED PROFESSIONAL ENGINEER – ENGINEERS BOARD OF KENYA (EBK)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CORPORATE MEMBER – INSTITUTION OF ENGINEERS OF KENYA (MIEK)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CURRENTLY PURSUING PHD (PART-TIME) – UNIVERSITY OF NAIROBI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AUTHOR OF SEVERAL PEER-REVIEWED JOURNAL AND CONFERENCE PAPERS IN CONSTRUCTION MATERIALS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MSC – UNIV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ERSITY OF CAPE TOWN, SOUTH AFRICA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 CIVIL AND CONSTRUCTION ENGINEERING – UNIVERSITY OF NAIROBI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65282" y="6931154"/>
            <a:ext cx="8309930" cy="226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TECHNICAL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EXPERTISE IN MATERIALS TESTING, RESEARCH, AND CONCRETE ENGINEERING AT NATIONAL LEVEL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PUBLISHED RESEARCH IN PEER-REVIEWED JOURNALS AND CONFERENCES IN CONSTRUCTION MATERIALS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ERNATIONAL ACADEMIC TRAINING FROM THE UNIVERSITY OF CAPE TOWN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ACTIVE CONTRIBUTION TO ROADS SECTOR MATERIALS RESEARCH THROUGH MTRD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77393" y="8142926"/>
            <a:ext cx="507384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SENIOR ENGINEER - MATERIALS AT MATERIALS TESTING AND RESEARCH DIRECTORATE (MTRD)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49829" y="1304339"/>
            <a:ext cx="12402818" cy="6156308"/>
          </a:xfrm>
          <a:custGeom>
            <a:avLst/>
            <a:gdLst/>
            <a:ahLst/>
            <a:cxnLst/>
            <a:rect r="r" b="b" t="t" l="l"/>
            <a:pathLst>
              <a:path h="6156308" w="12402818">
                <a:moveTo>
                  <a:pt x="12402818" y="0"/>
                </a:moveTo>
                <a:lnTo>
                  <a:pt x="0" y="0"/>
                </a:lnTo>
                <a:lnTo>
                  <a:pt x="0" y="6156308"/>
                </a:lnTo>
                <a:lnTo>
                  <a:pt x="12402818" y="6156308"/>
                </a:lnTo>
                <a:lnTo>
                  <a:pt x="12402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829" y="320162"/>
            <a:ext cx="3936710" cy="1968355"/>
          </a:xfrm>
          <a:custGeom>
            <a:avLst/>
            <a:gdLst/>
            <a:ahLst/>
            <a:cxnLst/>
            <a:rect r="r" b="b" t="t" l="l"/>
            <a:pathLst>
              <a:path h="1968355" w="3936710">
                <a:moveTo>
                  <a:pt x="0" y="0"/>
                </a:moveTo>
                <a:lnTo>
                  <a:pt x="3936710" y="0"/>
                </a:lnTo>
                <a:lnTo>
                  <a:pt x="3936710" y="1968355"/>
                </a:lnTo>
                <a:lnTo>
                  <a:pt x="0" y="1968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6055048" y="5143500"/>
            <a:ext cx="11022601" cy="5471218"/>
          </a:xfrm>
          <a:custGeom>
            <a:avLst/>
            <a:gdLst/>
            <a:ahLst/>
            <a:cxnLst/>
            <a:rect r="r" b="b" t="t" l="l"/>
            <a:pathLst>
              <a:path h="5471218" w="11022601">
                <a:moveTo>
                  <a:pt x="0" y="5471218"/>
                </a:moveTo>
                <a:lnTo>
                  <a:pt x="11022602" y="5471218"/>
                </a:lnTo>
                <a:lnTo>
                  <a:pt x="11022602" y="0"/>
                </a:lnTo>
                <a:lnTo>
                  <a:pt x="0" y="0"/>
                </a:lnTo>
                <a:lnTo>
                  <a:pt x="0" y="5471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181941" y="222428"/>
            <a:ext cx="20276611" cy="10064572"/>
          </a:xfrm>
          <a:custGeom>
            <a:avLst/>
            <a:gdLst/>
            <a:ahLst/>
            <a:cxnLst/>
            <a:rect r="r" b="b" t="t" l="l"/>
            <a:pathLst>
              <a:path h="10064572" w="20276611">
                <a:moveTo>
                  <a:pt x="20276611" y="0"/>
                </a:moveTo>
                <a:lnTo>
                  <a:pt x="0" y="0"/>
                </a:lnTo>
                <a:lnTo>
                  <a:pt x="0" y="10064572"/>
                </a:lnTo>
                <a:lnTo>
                  <a:pt x="20276611" y="10064572"/>
                </a:lnTo>
                <a:lnTo>
                  <a:pt x="202766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3471" y="7366584"/>
            <a:ext cx="6684530" cy="3248135"/>
          </a:xfrm>
          <a:custGeom>
            <a:avLst/>
            <a:gdLst/>
            <a:ahLst/>
            <a:cxnLst/>
            <a:rect r="r" b="b" t="t" l="l"/>
            <a:pathLst>
              <a:path h="3248135" w="6684530">
                <a:moveTo>
                  <a:pt x="0" y="0"/>
                </a:moveTo>
                <a:lnTo>
                  <a:pt x="6684530" y="0"/>
                </a:lnTo>
                <a:lnTo>
                  <a:pt x="6684530" y="3248134"/>
                </a:lnTo>
                <a:lnTo>
                  <a:pt x="0" y="3248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952" t="-339957" r="-563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865" y="1991137"/>
            <a:ext cx="7059136" cy="5375447"/>
          </a:xfrm>
          <a:custGeom>
            <a:avLst/>
            <a:gdLst/>
            <a:ahLst/>
            <a:cxnLst/>
            <a:rect r="r" b="b" t="t" l="l"/>
            <a:pathLst>
              <a:path h="5375447" w="7059136">
                <a:moveTo>
                  <a:pt x="0" y="0"/>
                </a:moveTo>
                <a:lnTo>
                  <a:pt x="7059136" y="0"/>
                </a:lnTo>
                <a:lnTo>
                  <a:pt x="7059136" y="5375447"/>
                </a:lnTo>
                <a:lnTo>
                  <a:pt x="0" y="53754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7393" y="7652372"/>
            <a:ext cx="50738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JACINTA MWANGI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65282" y="1710869"/>
            <a:ext cx="8309930" cy="397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ENG. JACINTA MWANGI – SHORT PROFILE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INFRASTRUCTURE AND POLICY LEADER WITH OVER 20 YEARS' EX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PERIENCE IN URBAN ROADS DEVELOPMENT, INSTITUTIONAL GOVERNANCE, AND EVIDENCE-BASED POLICY REFORM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DIRECTOR, POLICY STRATEGY AND COMPLIANCE – KURA; LEADS STRATEGIC PLANNING, PERFORMANCE CONTRACTING, RISK MANAGEMENT, RESEARCH AND INNOVATION, AND QUALITY ASSURANCE FRAMEWORKS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PRIOR ROLES AT KURA INCLUDE REGIONAL DIRECTOR AND HEAD OF URBAN ROADS AND PLANNING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CHAM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PION OF CLIMATE-RESILIENT INFRASTRUCTURE INCLUDING THE NAIROBI INTELLIGENT TRANSPORT SYSTEMS (ITS) PROJECT AND BUS RAPID TRANSIT (BRT) LINE 5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REGISTERED CIVIL ENGINEER AND CORPORATE MEMBER – INSTITUTION OF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ENGINEERS OF KENYA (MIEK); HONORARY MEMBER – KENYA INSTITUTE OF 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PLANNERS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BSC CIVIL ENGINEERING – JKUAT; MBA – KENYATTA UNIVERSITY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65282" y="6645404"/>
            <a:ext cx="8309930" cy="2833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KEY ACHIEVEMENTS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OVER 20 YEARS OF LEADERSHIP IN KENYA'S URBAN ROADS AND TRANSPORT POLICY SECTOR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POSITIONING KURA AS A KNOWLEDGE-DRIVEN INSTITUTION AT THE FOREFRONT OF URBAN MOBILITY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LEADERSHI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 IN DELIVERY OF NAIROBI ITS PROJECT AND BRT LINE 5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TRANSLATION OF RESEARCH AND INNOVATION INTO TRANSFORMATIVE URBAN INFRASTRUCTURE POLICY</a:t>
            </a:r>
          </a:p>
          <a:p>
            <a:pPr algn="just" marL="322043" indent="-161021" lvl="1">
              <a:lnSpc>
                <a:spcPts val="2282"/>
              </a:lnSpc>
              <a:buFont typeface="Arial"/>
              <a:buChar char="•"/>
            </a:pP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CROSS-DISCIPLIN</a:t>
            </a:r>
            <a:r>
              <a:rPr lang="en-US" sz="1491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ARY RECOGNITION AS HONORARY MEMBER OF THE KENYA INSTITUTE OF PLANNERS</a:t>
            </a:r>
          </a:p>
          <a:p>
            <a:pPr algn="just">
              <a:lnSpc>
                <a:spcPts val="228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77393" y="8142926"/>
            <a:ext cx="507384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  <a:spcBef>
                <a:spcPct val="0"/>
              </a:spcBef>
            </a:pPr>
            <a:r>
              <a:rPr lang="en-US" sz="2753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DIRECTOR POLICY STRATEGY AND COMPLIANCE, KENYA URBAN ROADS AUTHORITY (KURA)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-3096977" y="3770114"/>
            <a:ext cx="11056785" cy="5488186"/>
          </a:xfrm>
          <a:custGeom>
            <a:avLst/>
            <a:gdLst/>
            <a:ahLst/>
            <a:cxnLst/>
            <a:rect r="r" b="b" t="t" l="l"/>
            <a:pathLst>
              <a:path h="5488186" w="11056785">
                <a:moveTo>
                  <a:pt x="11056784" y="0"/>
                </a:moveTo>
                <a:lnTo>
                  <a:pt x="0" y="0"/>
                </a:lnTo>
                <a:lnTo>
                  <a:pt x="0" y="5488186"/>
                </a:lnTo>
                <a:lnTo>
                  <a:pt x="11056784" y="5488186"/>
                </a:lnTo>
                <a:lnTo>
                  <a:pt x="110567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604405" y="-327718"/>
            <a:ext cx="13784099" cy="6841926"/>
          </a:xfrm>
          <a:custGeom>
            <a:avLst/>
            <a:gdLst/>
            <a:ahLst/>
            <a:cxnLst/>
            <a:rect r="r" b="b" t="t" l="l"/>
            <a:pathLst>
              <a:path h="6841926" w="13784099">
                <a:moveTo>
                  <a:pt x="13784099" y="0"/>
                </a:moveTo>
                <a:lnTo>
                  <a:pt x="0" y="0"/>
                </a:lnTo>
                <a:lnTo>
                  <a:pt x="0" y="6841925"/>
                </a:lnTo>
                <a:lnTo>
                  <a:pt x="13784099" y="6841925"/>
                </a:lnTo>
                <a:lnTo>
                  <a:pt x="137840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16081389" y="-327718"/>
            <a:ext cx="8255707" cy="4097833"/>
          </a:xfrm>
          <a:custGeom>
            <a:avLst/>
            <a:gdLst/>
            <a:ahLst/>
            <a:cxnLst/>
            <a:rect r="r" b="b" t="t" l="l"/>
            <a:pathLst>
              <a:path h="4097833" w="8255707">
                <a:moveTo>
                  <a:pt x="0" y="4097832"/>
                </a:moveTo>
                <a:lnTo>
                  <a:pt x="8255707" y="4097832"/>
                </a:lnTo>
                <a:lnTo>
                  <a:pt x="8255707" y="0"/>
                </a:lnTo>
                <a:lnTo>
                  <a:pt x="0" y="0"/>
                </a:lnTo>
                <a:lnTo>
                  <a:pt x="0" y="40978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676161" y="4653902"/>
            <a:ext cx="10178222" cy="3720611"/>
          </a:xfrm>
          <a:custGeom>
            <a:avLst/>
            <a:gdLst/>
            <a:ahLst/>
            <a:cxnLst/>
            <a:rect r="r" b="b" t="t" l="l"/>
            <a:pathLst>
              <a:path h="3720611" w="10178222">
                <a:moveTo>
                  <a:pt x="0" y="0"/>
                </a:moveTo>
                <a:lnTo>
                  <a:pt x="10178222" y="0"/>
                </a:lnTo>
                <a:lnTo>
                  <a:pt x="10178222" y="3720610"/>
                </a:lnTo>
                <a:lnTo>
                  <a:pt x="0" y="3720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883694" y="3770114"/>
            <a:ext cx="7197695" cy="5488186"/>
            <a:chOff x="0" y="0"/>
            <a:chExt cx="6425184" cy="48991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25184" cy="4899152"/>
            </a:xfrm>
            <a:custGeom>
              <a:avLst/>
              <a:gdLst/>
              <a:ahLst/>
              <a:cxnLst/>
              <a:rect r="r" b="b" t="t" l="l"/>
              <a:pathLst>
                <a:path h="4899152" w="6425184">
                  <a:moveTo>
                    <a:pt x="2841625" y="0"/>
                  </a:moveTo>
                  <a:lnTo>
                    <a:pt x="0" y="4899152"/>
                  </a:lnTo>
                  <a:lnTo>
                    <a:pt x="3583559" y="4899152"/>
                  </a:lnTo>
                  <a:lnTo>
                    <a:pt x="6425184" y="0"/>
                  </a:lnTo>
                  <a:close/>
                </a:path>
              </a:pathLst>
            </a:custGeom>
            <a:blipFill>
              <a:blip r:embed="rId8"/>
              <a:stretch>
                <a:fillRect l="-11702" t="0" r="-267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560439"/>
            <a:ext cx="6655625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9"/>
              </a:lnSpc>
            </a:pPr>
            <a:r>
              <a:rPr lang="en-US" sz="939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THANK</a:t>
            </a:r>
          </a:p>
          <a:p>
            <a:pPr algn="l">
              <a:lnSpc>
                <a:spcPts val="11279"/>
              </a:lnSpc>
            </a:pPr>
            <a:r>
              <a:rPr lang="en-US" sz="939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DAHKHJfGd_4</dc:identifier>
  <dcterms:modified xsi:type="dcterms:W3CDTF">2011-08-01T06:04:30Z</dcterms:modified>
  <cp:revision>1</cp:revision>
  <dc:title>Panelists Day 1 Evening</dc:title>
</cp:coreProperties>
</file>